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206240" cy="4206240"/>
          </a:xfrm>
          <a:prstGeom prst="ellipse">
            <a:avLst/>
          </a:prstGeom>
          <a:solidFill>
            <a:srgbClr val="2C3A78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1097280"/>
            <a:ext cx="2377440" cy="2377440"/>
          </a:xfrm>
          <a:prstGeom prst="ellipse">
            <a:avLst/>
          </a:prstGeom>
          <a:solidFill>
            <a:srgbClr val="CADCFC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4937760"/>
            <a:ext cx="2926080" cy="2926080"/>
          </a:xfrm>
          <a:prstGeom prst="ellipse">
            <a:avLst/>
          </a:prstGeom>
          <a:solidFill>
            <a:srgbClr val="F4A93D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TICKET MANAGEMENT SYSTEM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850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Development Review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 ·  Database  ·  SLA &amp; Escalation  ·  Email Integration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5577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Deva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Med PA   ·   July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4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CONTRIBUTIONS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Built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C4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965960" y="203911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RBAC Backend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965960" y="256032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(JWT) plus users, roles, permissions and self-service access requests.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3492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C4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2011680"/>
            <a:ext cx="777240" cy="777240"/>
          </a:xfrm>
          <a:prstGeom prst="ellipse">
            <a:avLst/>
          </a:prstGeom>
          <a:solidFill>
            <a:srgbClr val="2AB7A9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35240" y="203911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RBAC Database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635240" y="256032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model behind access control — users, roles, overrides and audit logs.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53492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C4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389120"/>
            <a:ext cx="777240" cy="777240"/>
          </a:xfrm>
          <a:prstGeom prst="ellipse">
            <a:avLst/>
          </a:prstGeom>
          <a:solidFill>
            <a:srgbClr val="F4A93D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389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965960" y="441655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 &amp; Escalation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965960" y="493776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per-ticket clocks with breach alerts and an escalation chain.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09360" y="4069080"/>
            <a:ext cx="53492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C4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4389120"/>
            <a:ext cx="777240" cy="777240"/>
          </a:xfrm>
          <a:prstGeom prst="ellipse">
            <a:avLst/>
          </a:prstGeom>
          <a:solidFill>
            <a:srgbClr val="6E5BD6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389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35240" y="441655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Integration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7635240" y="493776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mail becomes tickets; SLA alerts sent over real SMTP.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4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  ·   01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RBAC Backend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806440" cy="48006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C4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5303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login / refresh / logout — the single token issuer (HS256)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users, roles, permissions and work categories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permissions = role defaults + personal overrides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Fine-grained, ticket-scoped grants via a scoped_permissions claim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permission-request &amp; approval workflow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logging of every change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675120" y="1600200"/>
            <a:ext cx="484632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C4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49440" y="17556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hierarchy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0" y="2212848"/>
            <a:ext cx="4160520" cy="329184"/>
          </a:xfrm>
          <a:prstGeom prst="roundRect">
            <a:avLst>
              <a:gd name="adj" fmla="val 1388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086600" y="22128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114032" y="2615184"/>
            <a:ext cx="3995928" cy="329184"/>
          </a:xfrm>
          <a:prstGeom prst="roundRect">
            <a:avLst>
              <a:gd name="adj" fmla="val 13889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251192" y="2615184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Lead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278624" y="3017520"/>
            <a:ext cx="3831336" cy="329184"/>
          </a:xfrm>
          <a:prstGeom prst="roundRect">
            <a:avLst>
              <a:gd name="adj" fmla="val 13889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415784" y="3017520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43216" y="3419856"/>
            <a:ext cx="3666744" cy="329184"/>
          </a:xfrm>
          <a:prstGeom prst="roundRect">
            <a:avLst>
              <a:gd name="adj" fmla="val 13889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580376" y="3419856"/>
            <a:ext cx="3438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607808" y="3822192"/>
            <a:ext cx="3502152" cy="329184"/>
          </a:xfrm>
          <a:prstGeom prst="roundRect">
            <a:avLst>
              <a:gd name="adj" fmla="val 13889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744968" y="3822192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0" y="4224528"/>
            <a:ext cx="3337560" cy="329184"/>
          </a:xfrm>
          <a:prstGeom prst="roundRect">
            <a:avLst>
              <a:gd name="adj" fmla="val 13889"/>
            </a:avLst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7909560" y="422452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  (read-only)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675120" y="4983480"/>
            <a:ext cx="48463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C4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49440" y="5193792"/>
            <a:ext cx="457200" cy="457200"/>
          </a:xfrm>
          <a:prstGeom prst="ellipse">
            <a:avLst/>
          </a:prstGeom>
          <a:solidFill>
            <a:srgbClr val="2AB7A9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»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43800" y="51389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Stateless sessions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543800" y="546811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cache keyed on (user_id, permission_version) skips a DB round-trip per request; a version bump invalidates instantly.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4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  ·   02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RBAC Database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61518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C4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01952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28600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9536" y="2670048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role, manager &amp; category links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83864" y="1645920"/>
            <a:ext cx="261518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C4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39896" y="1901952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228600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03320" y="2670048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roles in the hierarchy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27648" y="1645920"/>
            <a:ext cx="261518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C4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0" y="1901952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547104" y="228600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47104" y="2670048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capabilities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71432" y="1645920"/>
            <a:ext cx="261518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C4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427464" y="1901952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390888" y="228600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role_permissions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90888" y="2670048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role has which permission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611880"/>
            <a:ext cx="261518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C4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6112" y="3867912"/>
            <a:ext cx="310896" cy="310896"/>
          </a:xfrm>
          <a:prstGeom prst="ellipse">
            <a:avLst/>
          </a:prstGeom>
          <a:solidFill>
            <a:srgbClr val="2AB7A9"/>
          </a:solidFill>
          <a:ln/>
        </p:spPr>
      </p:sp>
      <p:sp>
        <p:nvSpPr>
          <p:cNvPr id="22" name="Text 20"/>
          <p:cNvSpPr/>
          <p:nvPr/>
        </p:nvSpPr>
        <p:spPr>
          <a:xfrm>
            <a:off x="859536" y="425196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9536" y="4636008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specialisations (enum)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83864" y="3611880"/>
            <a:ext cx="261518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C4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39896" y="3867912"/>
            <a:ext cx="310896" cy="310896"/>
          </a:xfrm>
          <a:prstGeom prst="ellipse">
            <a:avLst/>
          </a:prstGeom>
          <a:solidFill>
            <a:srgbClr val="2AB7A9"/>
          </a:solidFill>
          <a:ln/>
        </p:spPr>
      </p:sp>
      <p:sp>
        <p:nvSpPr>
          <p:cNvPr id="26" name="Text 24"/>
          <p:cNvSpPr/>
          <p:nvPr/>
        </p:nvSpPr>
        <p:spPr>
          <a:xfrm>
            <a:off x="3703320" y="425196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user_permission_overrides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703320" y="4636008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per-user grants (scoped)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27648" y="3611880"/>
            <a:ext cx="261518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C4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83680" y="3867912"/>
            <a:ext cx="310896" cy="310896"/>
          </a:xfrm>
          <a:prstGeom prst="ellipse">
            <a:avLst/>
          </a:prstGeom>
          <a:solidFill>
            <a:srgbClr val="2AB7A9"/>
          </a:solidFill>
          <a:ln/>
        </p:spPr>
      </p:sp>
      <p:sp>
        <p:nvSpPr>
          <p:cNvPr id="30" name="Text 28"/>
          <p:cNvSpPr/>
          <p:nvPr/>
        </p:nvSpPr>
        <p:spPr>
          <a:xfrm>
            <a:off x="6547104" y="425196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permission_requests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47104" y="4636008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access requests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171432" y="3611880"/>
            <a:ext cx="2615184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C4">
                <a:alpha val="4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427464" y="3867912"/>
            <a:ext cx="310896" cy="310896"/>
          </a:xfrm>
          <a:prstGeom prst="ellipse">
            <a:avLst/>
          </a:prstGeom>
          <a:solidFill>
            <a:srgbClr val="2AB7A9"/>
          </a:solidFill>
          <a:ln/>
        </p:spPr>
      </p:sp>
      <p:sp>
        <p:nvSpPr>
          <p:cNvPr id="34" name="Text 32"/>
          <p:cNvSpPr/>
          <p:nvPr/>
        </p:nvSpPr>
        <p:spPr>
          <a:xfrm>
            <a:off x="9390888" y="425196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audit_logs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390888" y="4636008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change history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5623560"/>
            <a:ext cx="11146536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C4">
                <a:alpha val="4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14400" y="578815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Migrations:  </a:t>
            </a:r>
            <a:pPr indent="0" marL="0">
              <a:buNone/>
            </a:pPr>
            <a:r>
              <a:rPr lang="en-US" sz="12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(alembic_rbac) — 8 versioned migrations, separate from ticketing.    </a:t>
            </a:r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models:  </a:t>
            </a:r>
            <a:pPr indent="0" marL="0">
              <a:buNone/>
            </a:pPr>
            <a:r>
              <a:rPr lang="en-US" sz="12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/ roles / categories live in shared_models, imported by the whole backend.    </a:t>
            </a:r>
            <a:pPr indent="0" marL="0">
              <a:buNone/>
            </a:pPr>
            <a:r>
              <a:rPr lang="en-US" sz="1200" b="1" dirty="0">
                <a:solidFill>
                  <a:srgbClr val="2AB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permission_version </a:t>
            </a:r>
            <a:pPr indent="0" marL="0">
              <a:buNone/>
            </a:pPr>
            <a:r>
              <a:rPr lang="en-US" sz="12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drives cache invalidation.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4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MONITORING   ·   03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 &amp; Escalation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80644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C4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373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 targets by priority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148840"/>
          <a:ext cx="5257800" cy="2148840"/>
        </p:xfrm>
        <a:graphic>
          <a:graphicData uri="http://schemas.openxmlformats.org/drawingml/2006/table">
            <a:tbl>
              <a:tblPr/>
              <a:tblGrid>
                <a:gridCol w="1600200"/>
                <a:gridCol w="1417320"/>
                <a:gridCol w="114300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Response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4617720"/>
            <a:ext cx="5806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C4">
                <a:alpha val="4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48280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»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08760" y="47731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sweep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508760" y="5102352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in-process APScheduler runs every 1 minute. It checks each active clock's elapsed % against four thresholds and records each crossing once (idempotent ledger) before alerting.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675120" y="1600200"/>
            <a:ext cx="484632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C4">
                <a:alpha val="4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949440" y="17373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ladder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949440" y="2212848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9CB4E6"/>
          </a:solidFill>
          <a:ln/>
        </p:spPr>
      </p:sp>
      <p:sp>
        <p:nvSpPr>
          <p:cNvPr id="15" name="Text 12"/>
          <p:cNvSpPr/>
          <p:nvPr/>
        </p:nvSpPr>
        <p:spPr>
          <a:xfrm>
            <a:off x="6949440" y="221284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909560" y="221284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elapsed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949440" y="2615184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F4A93D"/>
          </a:solidFill>
          <a:ln/>
        </p:spPr>
      </p:sp>
      <p:sp>
        <p:nvSpPr>
          <p:cNvPr id="18" name="Text 15"/>
          <p:cNvSpPr/>
          <p:nvPr/>
        </p:nvSpPr>
        <p:spPr>
          <a:xfrm>
            <a:off x="6949440" y="261518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909560" y="261518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949440" y="3017520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E06D5B"/>
          </a:solidFill>
          <a:ln/>
        </p:spPr>
      </p:sp>
      <p:sp>
        <p:nvSpPr>
          <p:cNvPr id="21" name="Text 18"/>
          <p:cNvSpPr/>
          <p:nvPr/>
        </p:nvSpPr>
        <p:spPr>
          <a:xfrm>
            <a:off x="6949440" y="301752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909560" y="30175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Breached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949440" y="3419856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B23B57"/>
          </a:solidFill>
          <a:ln/>
        </p:spPr>
      </p:sp>
      <p:sp>
        <p:nvSpPr>
          <p:cNvPr id="24" name="Text 21"/>
          <p:cNvSpPr/>
          <p:nvPr/>
        </p:nvSpPr>
        <p:spPr>
          <a:xfrm>
            <a:off x="6949440" y="341985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150%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909560" y="341985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675120" y="4069080"/>
            <a:ext cx="484632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C4">
                <a:alpha val="4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949440" y="42062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Escalation chain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6949440" y="4709160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29" name="Text 26"/>
          <p:cNvSpPr/>
          <p:nvPr/>
        </p:nvSpPr>
        <p:spPr>
          <a:xfrm>
            <a:off x="6949440" y="47091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183880" y="470916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8503920" y="4709160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32" name="Text 29"/>
          <p:cNvSpPr/>
          <p:nvPr/>
        </p:nvSpPr>
        <p:spPr>
          <a:xfrm>
            <a:off x="8503920" y="47091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9738360" y="470916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10058400" y="4709160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35" name="Text 32"/>
          <p:cNvSpPr/>
          <p:nvPr/>
        </p:nvSpPr>
        <p:spPr>
          <a:xfrm>
            <a:off x="10058400" y="47091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Lead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6949440" y="544068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Auto-advances if unacknowledged. </a:t>
            </a:r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escalation permanently bumps the ticket to CRITICAL priority.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4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  ·   04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Integration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806440" cy="48006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C4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Inbound mail → ticket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" y="233172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331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54480" y="229514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arrives via webhook (n8n / Graph-shaped)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299008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990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54480" y="295351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De-duplicated by Message-ID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364845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648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54480" y="361188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to the client by shared-inbox address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20" y="430682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306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54480" y="427024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Threaded to its conversation (recursive CTE)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60120" y="496519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965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54480" y="492861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an Interaction on the ticket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60120" y="5623560"/>
            <a:ext cx="402336" cy="402336"/>
          </a:xfrm>
          <a:prstGeom prst="ellipse">
            <a:avLst/>
          </a:prstGeom>
          <a:solidFill>
            <a:srgbClr val="2AB7A9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5623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54480" y="558698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/ resumes the right SLA clock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75120" y="1600200"/>
            <a:ext cx="48463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C4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49440" y="1810512"/>
            <a:ext cx="457200" cy="457200"/>
          </a:xfrm>
          <a:prstGeom prst="ellipse">
            <a:avLst/>
          </a:prstGeom>
          <a:solidFill>
            <a:srgbClr val="2AB7A9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543800" y="1783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 alert emails — live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543800" y="224028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&amp; escalation notifications go out over real SMTP (smtplib). Falls back to safe logging-only until a mail host is configured, so a send failure never blocks the ticket.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675120" y="4114800"/>
            <a:ext cx="48463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C4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49440" y="4325112"/>
            <a:ext cx="457200" cy="457200"/>
          </a:xfrm>
          <a:prstGeom prst="ellipse">
            <a:avLst/>
          </a:prstGeom>
          <a:solidFill>
            <a:srgbClr val="F4A93D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0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»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543800" y="42793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Outbound replies — Graph-ready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543800" y="475488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/ reply / drafts / attachments are fully built behind a clean dispatcher seam. Actual client-facing send is stubbed, ready to drop in Microsoft Graph.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206240"/>
            <a:ext cx="3840480" cy="3840480"/>
          </a:xfrm>
          <a:prstGeom prst="ellipse">
            <a:avLst/>
          </a:prstGeom>
          <a:solidFill>
            <a:srgbClr val="2C3A78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097280"/>
            <a:ext cx="3108960" cy="3108960"/>
          </a:xfrm>
          <a:prstGeom prst="ellipse">
            <a:avLst/>
          </a:prstGeom>
          <a:solidFill>
            <a:srgbClr val="F4A93D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4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097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backend subsystems, delivered end-to-end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2C3A7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517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A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subsystems built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03320" y="24688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2C3A78"/>
          </a:solidFill>
          <a:ln/>
        </p:spPr>
      </p:sp>
      <p:sp>
        <p:nvSpPr>
          <p:cNvPr id="10" name="Text 8"/>
          <p:cNvSpPr/>
          <p:nvPr/>
        </p:nvSpPr>
        <p:spPr>
          <a:xfrm>
            <a:off x="3794760" y="26517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A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840480" y="3429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fine-grained permissions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24688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2C3A78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26517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A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720840" y="3429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tiers, auto-escalation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464040" y="24688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2C3A78"/>
          </a:solidFill>
          <a:ln/>
        </p:spPr>
      </p:sp>
      <p:sp>
        <p:nvSpPr>
          <p:cNvPr id="16" name="Text 14"/>
          <p:cNvSpPr/>
          <p:nvPr/>
        </p:nvSpPr>
        <p:spPr>
          <a:xfrm>
            <a:off x="9555480" y="26517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A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min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601200" y="3429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monitoring sweep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6177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 control, a clean data model, automated SLA monitoring, and email that turns conversations into tickets — all on one unified FastAPI backend.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5806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2026-07-14T16:51:28Z</dcterms:created>
  <dcterms:modified xsi:type="dcterms:W3CDTF">2026-07-14T16:51:28Z</dcterms:modified>
</cp:coreProperties>
</file>