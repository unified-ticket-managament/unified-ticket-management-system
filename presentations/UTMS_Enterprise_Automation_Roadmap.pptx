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16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slide. Frame the deck: two enterprise-grade automation use cases for UTMS, benchmarked against mature patterns from ServiceNow, Okta, Salesforce, Workday, and Freshservice, then adapted specifically to UTMS's current architecture. Use Case 1 addresses the employee lifecycle (Joiner-Mover-Leaver); Use Case 2 addresses AI-assisted ticket intake with the Account Manager retaining final authority. Emphasize this is a roadmap for CTO/architecture/product leadership, not a finished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today's fully manual JML process: there is no HR system integration -- Super Admin is the sole source of truth for who's joining, moving, or leaving, and provisions each joiner field-by-field with no validation; movers require manual revoke-then-grant across multiple screens; leavers depend on someone remembering to deactivate and reassign. Land on the four business-impact callouts: orphaned access is the top insider-risk finding in access audits, there's no continuous HIPAA minimum-necessary evidence trail, onboarding-to-productivity takes multiple days, and manual reconciliation is a recurring cost every audit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architecture slide. There's no external HR system in this design -- Super Admin, who already tracks who's joining, moving, or leaving, initiates the action directly via the Admin Console; Identity Layer supplies the authenticated session context. Both feed the Employee Event Engine, which classifies the action as Joiner, Mover, or Leaver. Four processing services compute the change: RBAC Engine (role defaults), Permission Resolver (effective delta), Organization Service (hierarchy update), Workflow Engine (task sequencing). A Consistency &amp; Approval Check gate either proceeds to provisioning/transfer/compliance-snapshot services or routes to Exception Handling on the left for manual resolution -- nothing fails silently. Outputs land in the User Portal and Management Dashboard. Notification, Audit, and Reporting run as cross-cutting services on the right rail, receiving events from every stage of the flow -- this is the same pattern ServiceNow uses for Flow Designer orchestration with parallel notification/audit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implementation risks for JML automation: identity sync for a Super-Admin-triggered action, the fact that the whole workflow now depends on Super Admin noticing and manually triggering each event since there's no HR feed, extending the additive-only permission-override model without creating conflicts, safe role-inheritance cascading, scalability of the sweep/cache-invalidation path, a real rollback strategy for a failed mover/leaver step, HIPAA-defensible audit evidence, and a future AI enhancement -- anomaly detection on lifecycle patterns. Frame these as solvable, sequenced engineering risks, not blockers.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inbound email/call/SMS is read and keyed in by hand today, with no duplicate detection -- the same issue is sometimes logged twice. Client, claim number, category, and priority are typed from memory. Priority is whoever-triages-it, not a consistent signal. Clients get no visibility into status, so they re-send or escalate simply from silence. Business impact: added triage latency, poor customer experience versus modern e-commerce-style tracking expectations, inconsistent reporting from hand-typed data, and avoidable rework from duplicates/misassignment.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Communication Channels feed a Gateway that normalizes intake, then a Structured Parsing &amp; Rules Engine and a Deterministic Matching Engine run in parallel -- regex/keyword rules and sender lookup extract client/claim/patient/category/priority, and exact-ID plus fuzzy-text matching checks for a likely existing ticket. No AI/LLM call is made at all -- this keeps per-ticket cost near zero and every decision explainable by a plain rule, which matters for a HIPAA compliance review. This produces a recommendation only: Attach or Create. The critical design decision is the Account Manager Review stage -- highlighted in blue as Final Authority -- every rule-based suggestion is editable and nothing is auto-created without a human decision, shown again via the Manager Override callout on the left. Once confirmed, Ticket Service creates/attaches the ticket and starts SLA; Assignment, Priority, and SLA engines each make a rule-based recommendation the manager can override. Status Automation Engine drives the Amazon-style tracking timeline through to auto-close. Notification, Audit, and Analytics run as cross-cutting services on the right, and Analytics tracks how often each rule-based suggestion is accepted versus overridden -- the exact signal that would justify adding AI later for a specific underperforming field, instead of assuming it's needed upfront.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 implementation risks to flag: rule coverage needs a lightweight governance process as new email formats and claim-number patterns appear -- but with no ML retraining cost; duplicate detection must stay a suggestion, never an auto-merge; the manager-override step must not slow the workflow down; notification reliability is core to the tracking experience; every intake channel needs a resilient, idempotent connector; rule evaluation must scale with volume, which is inherently cheaper than model inference; PHI-adjacent extracted fields inherit the ticket's own access controls; every rule-based suggestion and manager decision needs its own audit entry; rule evaluation must never bypass existing visibility scoping; and AI is a deliberate, data-driven future option -- add it only for the specific fields where the override-rate data shows rules underperforming, not as an upfront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08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91840" y="-914400"/>
            <a:ext cx="2011680" cy="2011680"/>
          </a:xfrm>
          <a:prstGeom prst="ellipse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822960" cy="44450"/>
          </a:xfrm>
          <a:prstGeom prst="rect">
            <a:avLst/>
          </a:prstGeom>
          <a:solidFill>
            <a:srgbClr val="6FA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6FA0F5"/>
                </a:solidFill>
                <a:latin typeface="Calibri"/>
              </a:rPr>
              <a:t>ENTERPRISE AUTOMATION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3977639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Enterprise Automation</a:t>
            </a:r>
          </a:p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84448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BFD6FA"/>
                </a:solidFill>
                <a:latin typeface="Calibri"/>
              </a:rPr>
              <a:t>Unified Ticket Management System — Healthcare Revenue Cycle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98848"/>
            <a:ext cx="822960" cy="317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6FA0F5"/>
                </a:solidFill>
                <a:latin typeface="Calibri"/>
              </a:rPr>
              <a:t>PREPARED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01184"/>
            <a:ext cx="397763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Chief Technology Officer · Enterprise Architecture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Product &amp; Client Leadership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1">
                <a:solidFill>
                  <a:srgbClr val="7C97BE"/>
                </a:solidFill>
                <a:latin typeface="Calibri"/>
              </a:rPr>
              <a:t>Confidential — For internal and client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TWO PRIORITY AUTOMATION USE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783080"/>
            <a:ext cx="6080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05856" y="20116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0116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Joiner–Mover–Leaver (JML) Lifecycle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3957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0708A"/>
                </a:solidFill>
                <a:latin typeface="Calibri"/>
              </a:rPr>
              <a:t>End-to-end identity, access, and ticket-ownership automation across the full employee lifecycle — hire to exit.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856" y="324612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1F6FEB"/>
                </a:solidFill>
                <a:latin typeface="Calibri"/>
              </a:rPr>
              <a:t>RBAC Automation · Identity Governance · Organization 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794760"/>
            <a:ext cx="6080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705856" y="40233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40233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Intelligent Ticket Lifecycle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40740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0708A"/>
                </a:solidFill>
                <a:latin typeface="Calibri"/>
              </a:rPr>
              <a:t>Rules-based intake, triage, and status tracking — deterministic, auditable, and cost-effective, with the Account Manager always holding final control.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5856" y="525780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1F6FEB"/>
                </a:solidFill>
                <a:latin typeface="Calibri"/>
              </a:rPr>
              <a:t>Rules-Based Intake · Human-in-the-Loop · Cost-Effective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35508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1">
                <a:solidFill>
                  <a:srgbClr val="8B98AC"/>
                </a:solidFill>
                <a:latin typeface="Calibri"/>
              </a:rPr>
              <a:t>Automation patterns adapted from ServiceNow · Okta · Salesforce · Workday · Freshservice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1F6FEB"/>
                </a:solidFill>
                <a:latin typeface="Calibri"/>
              </a:rPr>
              <a:t>USE CASE 1 ·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00" b="1" i="0">
                <a:solidFill>
                  <a:srgbClr val="0B2A4A"/>
                </a:solidFill>
                <a:latin typeface="Calibri"/>
              </a:rPr>
              <a:t>Joiner–Mover–Leaver (JML) Lifecycle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6988"/>
            <a:ext cx="105156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33856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0B2A4A"/>
                </a:solidFill>
                <a:latin typeface="Calibri"/>
              </a:rPr>
              <a:t>Current Manual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8249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JN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664208"/>
            <a:ext cx="57790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Joiner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1920240"/>
            <a:ext cx="57790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08A"/>
                </a:solidFill>
                <a:latin typeface="Calibri"/>
              </a:rPr>
              <a:t>Super Admin manually creates the account, role, category, and hierarchy links field-by-field with no validation, whenever a new joiner is identified.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5117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532888"/>
            <a:ext cx="57790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Mover /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788920"/>
            <a:ext cx="57790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08A"/>
                </a:solidFill>
                <a:latin typeface="Calibri"/>
              </a:rPr>
              <a:t>Promotions and department changes require manually revoking old permissions and re-granting new ones across screens.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1985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401568"/>
            <a:ext cx="57790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Leaver Offboarding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657600"/>
            <a:ext cx="57790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08A"/>
                </a:solidFill>
                <a:latin typeface="Calibri"/>
              </a:rPr>
              <a:t>Deactivation depends on someone remembering to disable the account, revoke access, and reassign open tickets.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885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270248"/>
            <a:ext cx="57790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Approval &amp; Hierarchy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526280"/>
            <a:ext cx="57790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08A"/>
                </a:solidFill>
                <a:latin typeface="Calibri"/>
              </a:rPr>
              <a:t>Manager/team-lead consistency is checked at save time, but nothing orchestrates the lifecycle end-to-end.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5721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5138928"/>
            <a:ext cx="57790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Audit Reconstruction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5394960"/>
            <a:ext cx="57790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08A"/>
                </a:solidFill>
                <a:latin typeface="Calibri"/>
              </a:rPr>
              <a:t>Lifecycle history is pieced together after the fact from scattered logs rather than captured as one coherent trail.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12984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0B2A4A"/>
                </a:solidFill>
                <a:latin typeface="Calibri"/>
              </a:rPr>
              <a:t>Business Impact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4032" y="1682496"/>
            <a:ext cx="4572000" cy="969264"/>
          </a:xfrm>
          <a:prstGeom prst="roundRect">
            <a:avLst>
              <a:gd name="adj" fmla="val 8000"/>
            </a:avLst>
          </a:prstGeom>
          <a:solidFill>
            <a:srgbClr val="FBEAE8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14032" y="1682496"/>
            <a:ext cx="82296" cy="969264"/>
          </a:xfrm>
          <a:prstGeom prst="roundRect">
            <a:avLst>
              <a:gd name="adj" fmla="val 50000"/>
            </a:avLst>
          </a:prstGeom>
          <a:solidFill>
            <a:srgbClr val="B6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0" y="1773936"/>
            <a:ext cx="42428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B6362C"/>
                </a:solidFill>
                <a:latin typeface="Calibri"/>
              </a:rPr>
              <a:t>Security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066544"/>
            <a:ext cx="42428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8283F"/>
                </a:solidFill>
                <a:latin typeface="Calibri"/>
              </a:rPr>
              <a:t>Orphaned access after offboarding is the #1 finding in internal access audits.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14032" y="2770632"/>
            <a:ext cx="4572000" cy="969264"/>
          </a:xfrm>
          <a:prstGeom prst="roundRect">
            <a:avLst>
              <a:gd name="adj" fmla="val 8000"/>
            </a:avLst>
          </a:prstGeom>
          <a:solidFill>
            <a:srgbClr val="FCF1DD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114032" y="2770632"/>
            <a:ext cx="82296" cy="969264"/>
          </a:xfrm>
          <a:prstGeom prst="roundRect">
            <a:avLst>
              <a:gd name="adj" fmla="val 50000"/>
            </a:avLst>
          </a:prstGeom>
          <a:solidFill>
            <a:srgbClr val="AD6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0" y="2862072"/>
            <a:ext cx="42428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AD6F0B"/>
                </a:solidFill>
                <a:latin typeface="Calibri"/>
              </a:rPr>
              <a:t>Compliance Exposure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154680"/>
            <a:ext cx="42428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8283F"/>
                </a:solidFill>
                <a:latin typeface="Calibri"/>
              </a:rPr>
              <a:t>No continuous evidence trail to support HIPAA minimum-necessary-access reviews.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14032" y="3858768"/>
            <a:ext cx="4572000" cy="969264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114032" y="3858768"/>
            <a:ext cx="82296" cy="969264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3950208"/>
            <a:ext cx="42428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Operational Delay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242816"/>
            <a:ext cx="42428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8283F"/>
                </a:solidFill>
                <a:latin typeface="Calibri"/>
              </a:rPr>
              <a:t>Multi-day gap between hire date and full productivity while access is assembled by hand.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14032" y="4946904"/>
            <a:ext cx="4572000" cy="969264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114032" y="4946904"/>
            <a:ext cx="82296" cy="969264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0" y="5038344"/>
            <a:ext cx="42428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Cost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330952"/>
            <a:ext cx="42428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8283F"/>
                </a:solidFill>
                <a:latin typeface="Calibri"/>
              </a:rPr>
              <a:t>Recurring manual reconciliation consumes significant admin and compliance hours every cycle.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73952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65379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8B98AC"/>
                </a:solidFill>
                <a:latin typeface="Calibri"/>
              </a:rPr>
              <a:t>UTMS Enterprise Automation Program  ·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53796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 i="0">
                <a:solidFill>
                  <a:srgbClr val="8B98AC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1F6FEB"/>
                </a:solidFill>
                <a:latin typeface="Calibri"/>
              </a:rPr>
              <a:t>USE CASE 1 ·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 i="0">
                <a:solidFill>
                  <a:srgbClr val="0B2A4A"/>
                </a:solidFill>
                <a:latin typeface="Calibri"/>
              </a:rPr>
              <a:t>Joiner–Mover–Leaver (JML) Lifecycle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6988"/>
            <a:ext cx="105156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33856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80360" y="1298448"/>
            <a:ext cx="2971800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62656" y="141274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327252"/>
            <a:ext cx="2450592" cy="4453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50" b="1" i="0">
                <a:solidFill>
                  <a:srgbClr val="0B2A4A"/>
                </a:solidFill>
                <a:latin typeface="Calibri"/>
              </a:rPr>
              <a:t>Super Admin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Identifies and initiates a joiner / mover / leaver action via the Admin Console — no external HR feed.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98448"/>
            <a:ext cx="2971800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17336" y="141274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327252"/>
            <a:ext cx="2450592" cy="4453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50" b="1" i="0">
                <a:solidFill>
                  <a:srgbClr val="0B2A4A"/>
                </a:solidFill>
                <a:latin typeface="Calibri"/>
              </a:rPr>
              <a:t>Identity Layer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Authenticates the actor and issues the session / JWT context.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1801368"/>
            <a:ext cx="0" cy="155448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16752" y="178765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1">
                <a:solidFill>
                  <a:srgbClr val="60708A"/>
                </a:solidFill>
                <a:latin typeface="Calibri"/>
              </a:rPr>
              <a:t>Lifecycle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1975104"/>
            <a:ext cx="612648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962656" y="206654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EVT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2003908"/>
            <a:ext cx="5605272" cy="3995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000" b="1" i="0">
                <a:solidFill>
                  <a:srgbClr val="0B2A4A"/>
                </a:solidFill>
                <a:latin typeface="Calibri"/>
              </a:rPr>
              <a:t>Employee Event Engine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50" b="0" i="0">
                <a:solidFill>
                  <a:srgbClr val="60708A"/>
                </a:solidFill>
                <a:latin typeface="Calibri"/>
              </a:rPr>
              <a:t>Captures the Super Admin-initiated action and starts the correct lifecycle workflow.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2432304"/>
            <a:ext cx="0" cy="137160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16752" y="241858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1">
                <a:solidFill>
                  <a:srgbClr val="60708A"/>
                </a:solidFill>
                <a:latin typeface="Calibri"/>
              </a:rPr>
              <a:t>Validated Change 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2587752"/>
            <a:ext cx="143560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488436" y="2651760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6936" y="2898648"/>
            <a:ext cx="136245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B2A4A"/>
                </a:solidFill>
                <a:latin typeface="Calibri"/>
              </a:rPr>
              <a:t>RBAC Engine</a:t>
            </a:r>
          </a:p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60708A"/>
                </a:solidFill>
                <a:latin typeface="Calibri"/>
              </a:rPr>
              <a:t>role defaults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3984" y="2587752"/>
            <a:ext cx="143560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052060" y="2651760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898648"/>
            <a:ext cx="136245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B2A4A"/>
                </a:solidFill>
                <a:latin typeface="Calibri"/>
              </a:rPr>
              <a:t>Permission Resolver</a:t>
            </a:r>
          </a:p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60708A"/>
                </a:solidFill>
                <a:latin typeface="Calibri"/>
              </a:rPr>
              <a:t>effective delta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07608" y="2587752"/>
            <a:ext cx="143560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615684" y="2651760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2898648"/>
            <a:ext cx="136245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B2A4A"/>
                </a:solidFill>
                <a:latin typeface="Calibri"/>
              </a:rPr>
              <a:t>Organization Svc</a:t>
            </a:r>
          </a:p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60708A"/>
                </a:solidFill>
                <a:latin typeface="Calibri"/>
              </a:rPr>
              <a:t>hierarchy update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71232" y="2587752"/>
            <a:ext cx="143560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79308" y="2651760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WF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2898648"/>
            <a:ext cx="136245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B2A4A"/>
                </a:solidFill>
                <a:latin typeface="Calibri"/>
              </a:rPr>
              <a:t>Workflow Engine</a:t>
            </a:r>
          </a:p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60708A"/>
                </a:solidFill>
                <a:latin typeface="Calibri"/>
              </a:rPr>
              <a:t>task sequencing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0" y="3191256"/>
            <a:ext cx="0" cy="128016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16752" y="317754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1">
                <a:solidFill>
                  <a:srgbClr val="60708A"/>
                </a:solidFill>
                <a:latin typeface="Calibri"/>
              </a:rPr>
              <a:t>Approved</a:t>
            </a:r>
          </a:p>
        </p:txBody>
      </p:sp>
      <p:sp>
        <p:nvSpPr>
          <p:cNvPr id="35" name="Diamond 34"/>
          <p:cNvSpPr/>
          <p:nvPr/>
        </p:nvSpPr>
        <p:spPr>
          <a:xfrm>
            <a:off x="4709160" y="3337560"/>
            <a:ext cx="2468880" cy="585216"/>
          </a:xfrm>
          <a:prstGeom prst="diamond">
            <a:avLst/>
          </a:prstGeom>
          <a:solidFill>
            <a:srgbClr val="EDF3FC"/>
          </a:solidFill>
          <a:ln w="1905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/>
            <a:r>
              <a:rPr sz="900" b="1" i="0">
                <a:solidFill>
                  <a:srgbClr val="0B2A4A"/>
                </a:solidFill>
                <a:latin typeface="Calibri"/>
              </a:rPr>
              <a:t>Consistency &amp; Approval Check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0" y="3922776"/>
            <a:ext cx="0" cy="118872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697480" y="3630168"/>
            <a:ext cx="2011680" cy="0"/>
          </a:xfrm>
          <a:prstGeom prst="line">
            <a:avLst/>
          </a:prstGeom>
          <a:ln w="13970">
            <a:solidFill>
              <a:srgbClr val="AD6F0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80160" y="341071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1">
                <a:solidFill>
                  <a:srgbClr val="AD6F0B"/>
                </a:solidFill>
                <a:latin typeface="Calibri"/>
              </a:rPr>
              <a:t>Conflict / Rejected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0360" y="4059936"/>
            <a:ext cx="194462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742944" y="4123944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6936" y="4370832"/>
            <a:ext cx="187147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30" b="1" i="0">
                <a:solidFill>
                  <a:srgbClr val="0B2A4A"/>
                </a:solidFill>
                <a:latin typeface="Calibri"/>
              </a:rPr>
              <a:t>Account Provisioning</a:t>
            </a:r>
          </a:p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60708A"/>
                </a:solidFill>
                <a:latin typeface="Calibri"/>
              </a:rPr>
              <a:t>creates account &amp; dashboards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1288" y="4059936"/>
            <a:ext cx="194462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833872" y="4123944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XF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07864" y="4370832"/>
            <a:ext cx="187147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30" b="1" i="0">
                <a:solidFill>
                  <a:srgbClr val="0B2A4A"/>
                </a:solidFill>
                <a:latin typeface="Calibri"/>
              </a:rPr>
              <a:t>Ticket &amp; Ownership Transfer</a:t>
            </a:r>
          </a:p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60708A"/>
                </a:solidFill>
                <a:latin typeface="Calibri"/>
              </a:rPr>
              <a:t>reassigns tickets &amp; reports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62216" y="4059936"/>
            <a:ext cx="194462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924800" y="4123944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SP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98792" y="4370832"/>
            <a:ext cx="187147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30" b="1" i="0">
                <a:solidFill>
                  <a:srgbClr val="0B2A4A"/>
                </a:solidFill>
                <a:latin typeface="Calibri"/>
              </a:rPr>
              <a:t>Compliance Snapshot</a:t>
            </a:r>
          </a:p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60708A"/>
                </a:solidFill>
                <a:latin typeface="Calibri"/>
              </a:rPr>
              <a:t>packages change for audit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0" y="4663440"/>
            <a:ext cx="0" cy="128016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880360" y="4809744"/>
            <a:ext cx="2971800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962656" y="4928616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9272" y="4838548"/>
            <a:ext cx="2450592" cy="45445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50" b="1" i="0">
                <a:solidFill>
                  <a:srgbClr val="0B2A4A"/>
                </a:solidFill>
                <a:latin typeface="Calibri"/>
              </a:rPr>
              <a:t>User Portal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Employee profile &amp; dashboard reflect the new state immediately.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0" y="4809744"/>
            <a:ext cx="2971800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117336" y="4928616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4838548"/>
            <a:ext cx="2450592" cy="45445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50" b="1" i="0">
                <a:solidFill>
                  <a:srgbClr val="0B2A4A"/>
                </a:solidFill>
                <a:latin typeface="Calibri"/>
              </a:rPr>
              <a:t>Management Dashboard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Supervisors see org / permission changes in real time.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89720" y="1975104"/>
            <a:ext cx="2496312" cy="896112"/>
          </a:xfrm>
          <a:prstGeom prst="roundRect">
            <a:avLst>
              <a:gd name="adj" fmla="val 9000"/>
            </a:avLst>
          </a:prstGeom>
          <a:solidFill>
            <a:srgbClr val="E3ECFB"/>
          </a:solidFill>
          <a:ln w="15875">
            <a:solidFill>
              <a:srgbClr val="6FA0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272016" y="22860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28632" y="2003908"/>
            <a:ext cx="1975104" cy="8385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00" b="1" i="0">
                <a:solidFill>
                  <a:srgbClr val="0B2A4A"/>
                </a:solidFill>
                <a:latin typeface="Calibri"/>
              </a:rPr>
              <a:t>Notification Service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Alerts employee, manager, and approver at every lifecycle step.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89720" y="3035808"/>
            <a:ext cx="2496312" cy="896112"/>
          </a:xfrm>
          <a:prstGeom prst="roundRect">
            <a:avLst>
              <a:gd name="adj" fmla="val 9000"/>
            </a:avLst>
          </a:prstGeom>
          <a:solidFill>
            <a:srgbClr val="E3ECFB"/>
          </a:solidFill>
          <a:ln w="15875">
            <a:solidFill>
              <a:srgbClr val="6FA0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272016" y="33467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AUD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28632" y="3064612"/>
            <a:ext cx="1975104" cy="8385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00" b="1" i="0">
                <a:solidFill>
                  <a:srgbClr val="0B2A4A"/>
                </a:solidFill>
                <a:latin typeface="Calibri"/>
              </a:rPr>
              <a:t>Audit Service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Writes an immutable event for every automated grant, revoke, and transfer.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89720" y="4096512"/>
            <a:ext cx="2496312" cy="896112"/>
          </a:xfrm>
          <a:prstGeom prst="roundRect">
            <a:avLst>
              <a:gd name="adj" fmla="val 9000"/>
            </a:avLst>
          </a:prstGeom>
          <a:solidFill>
            <a:srgbClr val="E3ECFB"/>
          </a:solidFill>
          <a:ln w="15875">
            <a:solidFill>
              <a:srgbClr val="6FA0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272016" y="4407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RPT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28632" y="4125316"/>
            <a:ext cx="1975104" cy="8385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00" b="1" i="0">
                <a:solidFill>
                  <a:srgbClr val="0B2A4A"/>
                </a:solidFill>
                <a:latin typeface="Calibri"/>
              </a:rPr>
              <a:t>Reporting Service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Feeds compliance and access-recertification reporting.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437876" y="2871216"/>
            <a:ext cx="0" cy="164592"/>
          </a:xfrm>
          <a:prstGeom prst="line">
            <a:avLst/>
          </a:prstGeom>
          <a:ln w="12700">
            <a:solidFill>
              <a:srgbClr val="6FA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437876" y="3931920"/>
            <a:ext cx="0" cy="164592"/>
          </a:xfrm>
          <a:prstGeom prst="line">
            <a:avLst/>
          </a:prstGeom>
          <a:ln w="12700">
            <a:solidFill>
              <a:srgbClr val="6FA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006840" y="2203704"/>
            <a:ext cx="182880" cy="219456"/>
          </a:xfrm>
          <a:prstGeom prst="line">
            <a:avLst/>
          </a:prstGeom>
          <a:ln w="12700">
            <a:solidFill>
              <a:srgbClr val="6FA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006840" y="2889504"/>
            <a:ext cx="182880" cy="594360"/>
          </a:xfrm>
          <a:prstGeom prst="line">
            <a:avLst/>
          </a:prstGeom>
          <a:ln w="12700">
            <a:solidFill>
              <a:srgbClr val="6FA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006840" y="4361688"/>
            <a:ext cx="182880" cy="182880"/>
          </a:xfrm>
          <a:prstGeom prst="line">
            <a:avLst/>
          </a:prstGeom>
          <a:ln w="12700">
            <a:solidFill>
              <a:srgbClr val="6FA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502920" y="3639312"/>
            <a:ext cx="2194560" cy="896112"/>
          </a:xfrm>
          <a:prstGeom prst="roundRect">
            <a:avLst>
              <a:gd name="adj" fmla="val 8000"/>
            </a:avLst>
          </a:prstGeom>
          <a:solidFill>
            <a:srgbClr val="FCF1DD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502920" y="3639312"/>
            <a:ext cx="82296" cy="896112"/>
          </a:xfrm>
          <a:prstGeom prst="roundRect">
            <a:avLst>
              <a:gd name="adj" fmla="val 50000"/>
            </a:avLst>
          </a:prstGeom>
          <a:solidFill>
            <a:srgbClr val="AD6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04088" y="3730752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AD6F0B"/>
                </a:solidFill>
                <a:latin typeface="Calibri"/>
              </a:rPr>
              <a:t>Exception Handling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088" y="4023360"/>
            <a:ext cx="1865376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18283F"/>
                </a:solidFill>
                <a:latin typeface="Calibri"/>
              </a:rPr>
              <a:t>A failed validation pauses the workflow and routes to Admin for manual resolution — nothing fails silently.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5545836"/>
            <a:ext cx="201168" cy="118872"/>
          </a:xfrm>
          <a:prstGeom prst="roundRect">
            <a:avLst>
              <a:gd name="adj" fmla="val 3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77240" y="551383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60708A"/>
                </a:solidFill>
                <a:latin typeface="Calibri"/>
              </a:rPr>
              <a:t>Automated processing step</a:t>
            </a:r>
          </a:p>
        </p:txBody>
      </p:sp>
      <p:sp>
        <p:nvSpPr>
          <p:cNvPr id="75" name="Diamond 74"/>
          <p:cNvSpPr/>
          <p:nvPr/>
        </p:nvSpPr>
        <p:spPr>
          <a:xfrm>
            <a:off x="3200400" y="5532120"/>
            <a:ext cx="146304" cy="146304"/>
          </a:xfrm>
          <a:prstGeom prst="diamond">
            <a:avLst/>
          </a:prstGeom>
          <a:solidFill>
            <a:srgbClr val="EDF3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419856" y="551383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60708A"/>
                </a:solidFill>
                <a:latin typeface="Calibri"/>
              </a:rPr>
              <a:t>Decision point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843016" y="5605272"/>
            <a:ext cx="201168" cy="0"/>
          </a:xfrm>
          <a:prstGeom prst="line">
            <a:avLst/>
          </a:prstGeom>
          <a:ln w="15875">
            <a:solidFill>
              <a:srgbClr val="1F6F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117336" y="551383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60708A"/>
                </a:solidFill>
                <a:latin typeface="Calibri"/>
              </a:rPr>
              <a:t>Cross-cutting service (dashed link)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6473952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2920" y="65379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8B98AC"/>
                </a:solidFill>
                <a:latin typeface="Calibri"/>
              </a:rPr>
              <a:t>UTMS Enterprise Automation Program  ·  Confidential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07040" y="653796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 i="0">
                <a:solidFill>
                  <a:srgbClr val="8B98AC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1F6FEB"/>
                </a:solidFill>
                <a:latin typeface="Calibri"/>
              </a:rPr>
              <a:t>USE CASE 1 · IMPLEMENTATION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00" b="1" i="0">
                <a:solidFill>
                  <a:srgbClr val="0B2A4A"/>
                </a:solidFill>
                <a:latin typeface="Calibri"/>
              </a:rPr>
              <a:t>Joiner–Mover–Leaver (JML) Lifecycle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6988"/>
            <a:ext cx="105156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33856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65861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658618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" y="158191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SYN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984248"/>
            <a:ext cx="23660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A4A"/>
                </a:solidFill>
                <a:latin typeface="Calibri"/>
              </a:rPr>
              <a:t>Identity Synchronization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395728"/>
            <a:ext cx="2366010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850" b="0" i="0">
                <a:solidFill>
                  <a:srgbClr val="60708A"/>
                </a:solidFill>
                <a:latin typeface="Calibri"/>
              </a:rPr>
              <a:t>Keeping a Super-Admin-triggered action consistent with the affected user's live session state, without double-processing a resubmitted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4418" y="1417320"/>
            <a:ext cx="265861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44418" y="1417320"/>
            <a:ext cx="2658618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90722" y="158191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0722" y="1984248"/>
            <a:ext cx="23660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A4A"/>
                </a:solidFill>
                <a:latin typeface="Calibri"/>
              </a:rPr>
              <a:t>Manual Trigger Reliance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0722" y="2395728"/>
            <a:ext cx="2366010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850" b="0" i="0">
                <a:solidFill>
                  <a:srgbClr val="60708A"/>
                </a:solidFill>
                <a:latin typeface="Calibri"/>
              </a:rPr>
              <a:t>With no external HR feed, the automation is only as timely as Super Admin noticing and initiating the action — a missed trigger means the workflow never starts.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5916" y="1417320"/>
            <a:ext cx="265861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5916" y="1417320"/>
            <a:ext cx="2658618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32220" y="158191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CNF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1984248"/>
            <a:ext cx="23660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A4A"/>
                </a:solidFill>
                <a:latin typeface="Calibri"/>
              </a:rPr>
              <a:t>Permission Conflicts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2220" y="2395728"/>
            <a:ext cx="2366010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850" b="0" i="0">
                <a:solidFill>
                  <a:srgbClr val="60708A"/>
                </a:solidFill>
                <a:latin typeface="Calibri"/>
              </a:rPr>
              <a:t>The additive-only override model must be extended carefully to avoid unintended privilege stacking.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7414" y="1417320"/>
            <a:ext cx="265861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027414" y="1417320"/>
            <a:ext cx="2658618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73718" y="158191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3718" y="1984248"/>
            <a:ext cx="23660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A4A"/>
                </a:solidFill>
                <a:latin typeface="Calibri"/>
              </a:rPr>
              <a:t>Role Inheritance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3718" y="2395728"/>
            <a:ext cx="2366010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850" b="0" i="0">
                <a:solidFill>
                  <a:srgbClr val="60708A"/>
                </a:solidFill>
                <a:latin typeface="Calibri"/>
              </a:rPr>
              <a:t>Hierarchy changes must cascade correctly without breaking existing scoped or ticket-level grants.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86200"/>
            <a:ext cx="265861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" y="3886200"/>
            <a:ext cx="2658618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9224" y="40507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SCL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4453128"/>
            <a:ext cx="23660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A4A"/>
                </a:solidFill>
                <a:latin typeface="Calibri"/>
              </a:rPr>
              <a:t>Scalability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4864608"/>
            <a:ext cx="2366010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850" b="0" i="0">
                <a:solidFill>
                  <a:srgbClr val="60708A"/>
                </a:solidFill>
                <a:latin typeface="Calibri"/>
              </a:rPr>
              <a:t>The lifecycle sweep and cache-invalidation path must hold up as headcount and org depth grow.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44418" y="3886200"/>
            <a:ext cx="265861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344418" y="3886200"/>
            <a:ext cx="2658618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490722" y="40507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RBK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0722" y="4453128"/>
            <a:ext cx="23660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A4A"/>
                </a:solidFill>
                <a:latin typeface="Calibri"/>
              </a:rPr>
              <a:t>Rollback Strategy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0722" y="4864608"/>
            <a:ext cx="2366010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850" b="0" i="0">
                <a:solidFill>
                  <a:srgbClr val="60708A"/>
                </a:solidFill>
                <a:latin typeface="Calibri"/>
              </a:rPr>
              <a:t>A failed Mover / Leaver step must be safely reversible — never left half-applied.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5916" y="3886200"/>
            <a:ext cx="265861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185916" y="3886200"/>
            <a:ext cx="2658618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332220" y="40507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2220" y="4453128"/>
            <a:ext cx="23660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A4A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2220" y="4864608"/>
            <a:ext cx="2366010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850" b="0" i="0">
                <a:solidFill>
                  <a:srgbClr val="60708A"/>
                </a:solidFill>
                <a:latin typeface="Calibri"/>
              </a:rPr>
              <a:t>Every automated grant or revoke must produce HIPAA-defensible, immutable evidence.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27414" y="3886200"/>
            <a:ext cx="265861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027414" y="3886200"/>
            <a:ext cx="2658618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173718" y="40507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3718" y="4453128"/>
            <a:ext cx="23660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A4A"/>
                </a:solidFill>
                <a:latin typeface="Calibri"/>
              </a:rPr>
              <a:t>Analytics Enhancement (Optional)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3718" y="4864608"/>
            <a:ext cx="2366010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850" b="0" i="0">
                <a:solidFill>
                  <a:srgbClr val="60708A"/>
                </a:solidFill>
                <a:latin typeface="Calibri"/>
              </a:rPr>
              <a:t>Anomaly detection on lifecycle patterns is a future, data-justified add-on — the core workflow needs no AI/LLM dependency at all.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473952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65379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8B98AC"/>
                </a:solidFill>
                <a:latin typeface="Calibri"/>
              </a:rPr>
              <a:t>UTMS Enterprise Automation Program  ·  Confidential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53796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 i="0">
                <a:solidFill>
                  <a:srgbClr val="8B98AC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1F6FEB"/>
                </a:solidFill>
                <a:latin typeface="Calibri"/>
              </a:rPr>
              <a:t>USE CASE 2 ·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00" b="1" i="0">
                <a:solidFill>
                  <a:srgbClr val="0B2A4A"/>
                </a:solidFill>
                <a:latin typeface="Calibri"/>
              </a:rPr>
              <a:t>Intelligent Ticket Lifecycle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6988"/>
            <a:ext cx="105156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33856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58496" y="292608"/>
            <a:ext cx="1927536" cy="27432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58496" y="292608"/>
            <a:ext cx="19275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RULES-BASED · NO AI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0B2A4A"/>
                </a:solidFill>
                <a:latin typeface="Calibri"/>
              </a:rPr>
              <a:t>Current Manual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8249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664208"/>
            <a:ext cx="57790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Manual Ticket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1920240"/>
            <a:ext cx="57790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08A"/>
                </a:solidFill>
                <a:latin typeface="Calibri"/>
              </a:rPr>
              <a:t>Every inbound email, call, or SMS is read and keyed into a ticket entirely by hand.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5117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2532888"/>
            <a:ext cx="57790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Duplicate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2788920"/>
            <a:ext cx="57790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08A"/>
                </a:solidFill>
                <a:latin typeface="Calibri"/>
              </a:rPr>
              <a:t>No detection of an existing thread — the same issue is often logged as two separate tickets.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1985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401568"/>
            <a:ext cx="57790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Manual Data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3657600"/>
            <a:ext cx="57790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08A"/>
                </a:solidFill>
                <a:latin typeface="Calibri"/>
              </a:rPr>
              <a:t>Client, claim number, category, and priority are typed in from memory or re-reading the message.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885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4270248"/>
            <a:ext cx="57790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Inconsistent Prioritization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4526280"/>
            <a:ext cx="57790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08A"/>
                </a:solidFill>
                <a:latin typeface="Calibri"/>
              </a:rPr>
              <a:t>Priority depends on whoever triages it, not a consistent, repeatable signal.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5721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" y="5138928"/>
            <a:ext cx="57790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Follow-Up Burden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5394960"/>
            <a:ext cx="57790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08A"/>
                </a:solidFill>
                <a:latin typeface="Calibri"/>
              </a:rPr>
              <a:t>Clients re-send or escalate simply because they received no visibility into ticket status.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12984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0B2A4A"/>
                </a:solidFill>
                <a:latin typeface="Calibri"/>
              </a:rPr>
              <a:t>Business Impact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14032" y="1682496"/>
            <a:ext cx="4572000" cy="969264"/>
          </a:xfrm>
          <a:prstGeom prst="roundRect">
            <a:avLst>
              <a:gd name="adj" fmla="val 8000"/>
            </a:avLst>
          </a:prstGeom>
          <a:solidFill>
            <a:srgbClr val="FBEAE8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14032" y="1682496"/>
            <a:ext cx="82296" cy="969264"/>
          </a:xfrm>
          <a:prstGeom prst="roundRect">
            <a:avLst>
              <a:gd name="adj" fmla="val 50000"/>
            </a:avLst>
          </a:prstGeom>
          <a:solidFill>
            <a:srgbClr val="B6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0" y="1773936"/>
            <a:ext cx="42428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B6362C"/>
                </a:solidFill>
                <a:latin typeface="Calibri"/>
              </a:rPr>
              <a:t>Operational Delay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066544"/>
            <a:ext cx="42428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8283F"/>
                </a:solidFill>
                <a:latin typeface="Calibri"/>
              </a:rPr>
              <a:t>Manual triage adds minutes-to-hours of latency before a ticket is even assigned.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14032" y="2770632"/>
            <a:ext cx="4572000" cy="969264"/>
          </a:xfrm>
          <a:prstGeom prst="roundRect">
            <a:avLst>
              <a:gd name="adj" fmla="val 8000"/>
            </a:avLst>
          </a:prstGeom>
          <a:solidFill>
            <a:srgbClr val="FCF1DD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14032" y="2770632"/>
            <a:ext cx="82296" cy="969264"/>
          </a:xfrm>
          <a:prstGeom prst="roundRect">
            <a:avLst>
              <a:gd name="adj" fmla="val 50000"/>
            </a:avLst>
          </a:prstGeom>
          <a:solidFill>
            <a:srgbClr val="AD6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0" y="2862072"/>
            <a:ext cx="42428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AD6F0B"/>
                </a:solidFill>
                <a:latin typeface="Calibri"/>
              </a:rPr>
              <a:t>Customer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154680"/>
            <a:ext cx="42428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8283F"/>
                </a:solidFill>
                <a:latin typeface="Calibri"/>
              </a:rPr>
              <a:t>No Amazon-style tracking — clients are left guessing where their request stands.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14032" y="3858768"/>
            <a:ext cx="4572000" cy="969264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114032" y="3858768"/>
            <a:ext cx="82296" cy="969264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0" y="3950208"/>
            <a:ext cx="42428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Calibri"/>
              </a:rPr>
              <a:t>Data 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242816"/>
            <a:ext cx="42428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8283F"/>
                </a:solidFill>
                <a:latin typeface="Calibri"/>
              </a:rPr>
              <a:t>Hand-typed intake data drives inconsistent reporting and misrouted tickets.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14032" y="4946904"/>
            <a:ext cx="4572000" cy="969264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114032" y="4946904"/>
            <a:ext cx="82296" cy="969264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0" y="5038344"/>
            <a:ext cx="42428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Cost of Rework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330952"/>
            <a:ext cx="42428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8283F"/>
                </a:solidFill>
                <a:latin typeface="Calibri"/>
              </a:rPr>
              <a:t>Duplicate handling and misassignment create avoidable rework for agents and supervisors.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73952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65379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8B98AC"/>
                </a:solidFill>
                <a:latin typeface="Calibri"/>
              </a:rPr>
              <a:t>UTMS Enterprise Automation Program  · 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53796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 i="0">
                <a:solidFill>
                  <a:srgbClr val="8B98AC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52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1F6FEB"/>
                </a:solidFill>
                <a:latin typeface="Calibri"/>
              </a:rPr>
              <a:t>USE CASE 2 ·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 i="0">
                <a:solidFill>
                  <a:srgbClr val="0B2A4A"/>
                </a:solidFill>
                <a:latin typeface="Calibri"/>
              </a:rPr>
              <a:t>Intelligent Ticket Lifecycle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6988"/>
            <a:ext cx="105156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33856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58496" y="292608"/>
            <a:ext cx="1927536" cy="27432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58496" y="292608"/>
            <a:ext cx="19275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RULES-BASED · NO AI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298448"/>
            <a:ext cx="6126480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62656" y="1417320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CHN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327252"/>
            <a:ext cx="5586984" cy="4727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000" b="1" i="0">
                <a:solidFill>
                  <a:srgbClr val="0B2A4A"/>
                </a:solidFill>
                <a:latin typeface="Calibri"/>
              </a:rPr>
              <a:t>Communication Intake &amp; Gateway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60" b="0" i="0">
                <a:solidFill>
                  <a:srgbClr val="60708A"/>
                </a:solidFill>
                <a:latin typeface="Calibri"/>
              </a:rPr>
              <a:t>Email · SMS · Phone · Portal · Manual entry — normalized into one clean message object.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1828800"/>
            <a:ext cx="0" cy="82295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16752" y="181508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1">
                <a:solidFill>
                  <a:srgbClr val="60708A"/>
                </a:solidFill>
                <a:latin typeface="Calibri"/>
              </a:rPr>
              <a:t>Message Received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1920240"/>
            <a:ext cx="2971800" cy="548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62656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949044"/>
            <a:ext cx="2450592" cy="49103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30" b="1" i="0">
                <a:solidFill>
                  <a:srgbClr val="0B2A4A"/>
                </a:solidFill>
                <a:latin typeface="Calibri"/>
              </a:rPr>
              <a:t>Structured Parsing &amp; Rules Engine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20" b="0" i="0">
                <a:solidFill>
                  <a:srgbClr val="60708A"/>
                </a:solidFill>
                <a:latin typeface="Calibri"/>
              </a:rPr>
              <a:t>Extracts client, claim #, patient, category &amp; priority via regex, keyword rules and sender lookup — no model calls.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920240"/>
            <a:ext cx="2971800" cy="548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17336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1949044"/>
            <a:ext cx="2450592" cy="49103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30" b="1" i="0">
                <a:solidFill>
                  <a:srgbClr val="0B2A4A"/>
                </a:solidFill>
                <a:latin typeface="Calibri"/>
              </a:rPr>
              <a:t>Deterministic Matching Engine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20" b="0" i="0">
                <a:solidFill>
                  <a:srgbClr val="60708A"/>
                </a:solidFill>
                <a:latin typeface="Calibri"/>
              </a:rPr>
              <a:t>Matches on claim #, thread ID, and fuzzy text similarity — plain algorithms, no AI.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2468880"/>
            <a:ext cx="0" cy="82296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16752" y="2455164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1">
                <a:solidFill>
                  <a:srgbClr val="60708A"/>
                </a:solidFill>
                <a:latin typeface="Calibri"/>
              </a:rPr>
              <a:t>Match Signal</a:t>
            </a:r>
          </a:p>
        </p:txBody>
      </p:sp>
      <p:sp>
        <p:nvSpPr>
          <p:cNvPr id="23" name="Diamond 22"/>
          <p:cNvSpPr/>
          <p:nvPr/>
        </p:nvSpPr>
        <p:spPr>
          <a:xfrm>
            <a:off x="4572000" y="2560320"/>
            <a:ext cx="2743200" cy="585216"/>
          </a:xfrm>
          <a:prstGeom prst="diamond">
            <a:avLst/>
          </a:prstGeom>
          <a:solidFill>
            <a:srgbClr val="EDF3FC"/>
          </a:solidFill>
          <a:ln w="1905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/>
            <a:r>
              <a:rPr sz="850" b="1" i="0">
                <a:solidFill>
                  <a:srgbClr val="0B2A4A"/>
                </a:solidFill>
                <a:latin typeface="Calibri"/>
              </a:rPr>
              <a:t>Attach or Create — Recommendation Only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0" y="3145536"/>
            <a:ext cx="0" cy="82296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16752" y="314096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1">
                <a:solidFill>
                  <a:srgbClr val="60708A"/>
                </a:solidFill>
                <a:latin typeface="Calibri"/>
              </a:rPr>
              <a:t>Recommendation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697480" y="2852928"/>
            <a:ext cx="1874520" cy="0"/>
          </a:xfrm>
          <a:prstGeom prst="line">
            <a:avLst/>
          </a:prstGeom>
          <a:ln w="13970">
            <a:solidFill>
              <a:srgbClr val="1F6FE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83080" y="26517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1">
                <a:solidFill>
                  <a:srgbClr val="1F6FEB"/>
                </a:solidFill>
                <a:latin typeface="Calibri"/>
              </a:rPr>
              <a:t>Editable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3246120"/>
            <a:ext cx="6126480" cy="566928"/>
          </a:xfrm>
          <a:prstGeom prst="roundRect">
            <a:avLst>
              <a:gd name="adj" fmla="val 10000"/>
            </a:avLst>
          </a:prstGeom>
          <a:solidFill>
            <a:srgbClr val="1F6FEB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971800" y="3328416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1F6FEB"/>
                </a:solidFill>
                <a:latin typeface="Calibri"/>
              </a:rPr>
              <a:t>MGR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6" y="331927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Account Manager Review — Human-in-the-Loop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4136" y="353872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 i="0">
                <a:solidFill>
                  <a:srgbClr val="FFFFFF"/>
                </a:solidFill>
                <a:latin typeface="Calibri"/>
              </a:rPr>
              <a:t>Manager reviews the prefilled ticket, edits if needed, and makes the final Create / Attach decision.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33756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Calibri"/>
              </a:rPr>
              <a:t>FINAL AUTHORITY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0" y="3813048"/>
            <a:ext cx="0" cy="73152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16752" y="3799332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1">
                <a:solidFill>
                  <a:srgbClr val="60708A"/>
                </a:solidFill>
                <a:latin typeface="Calibri"/>
              </a:rPr>
              <a:t>Manager Confirms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3895344"/>
            <a:ext cx="612648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962656" y="398678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TKT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9272" y="3924148"/>
            <a:ext cx="5605272" cy="3995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50" b="1" i="0">
                <a:solidFill>
                  <a:srgbClr val="0B2A4A"/>
                </a:solidFill>
                <a:latin typeface="Calibri"/>
              </a:rPr>
              <a:t>Ticket Service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40" b="0" i="0">
                <a:solidFill>
                  <a:srgbClr val="60708A"/>
                </a:solidFill>
                <a:latin typeface="Calibri"/>
              </a:rPr>
              <a:t>Creates or attaches the ticket, starts SLA, stores attachments and the audit entry.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0" y="4352544"/>
            <a:ext cx="0" cy="82296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880360" y="4443984"/>
            <a:ext cx="1944624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742944" y="4507992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6936" y="4754880"/>
            <a:ext cx="18714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30" b="1" i="0">
                <a:solidFill>
                  <a:srgbClr val="0B2A4A"/>
                </a:solidFill>
                <a:latin typeface="Calibri"/>
              </a:rPr>
              <a:t>Assignment Engine</a:t>
            </a:r>
          </a:p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60708A"/>
                </a:solidFill>
                <a:latin typeface="Calibri"/>
              </a:rPr>
              <a:t>best-fit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1288" y="4443984"/>
            <a:ext cx="1944624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833872" y="4507992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07864" y="4754880"/>
            <a:ext cx="18714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30" b="1" i="0">
                <a:solidFill>
                  <a:srgbClr val="0B2A4A"/>
                </a:solidFill>
                <a:latin typeface="Calibri"/>
              </a:rPr>
              <a:t>Priority Engine</a:t>
            </a:r>
          </a:p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60708A"/>
                </a:solidFill>
                <a:latin typeface="Calibri"/>
              </a:rPr>
              <a:t>tier x keyword rules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62216" y="4443984"/>
            <a:ext cx="1944624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924800" y="4507992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SLA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98792" y="4754880"/>
            <a:ext cx="18714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30" b="1" i="0">
                <a:solidFill>
                  <a:srgbClr val="0B2A4A"/>
                </a:solidFill>
                <a:latin typeface="Calibri"/>
              </a:rPr>
              <a:t>SLA Engine</a:t>
            </a:r>
          </a:p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60708A"/>
                </a:solidFill>
                <a:latin typeface="Calibri"/>
              </a:rPr>
              <a:t>starts the clock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0" y="5029200"/>
            <a:ext cx="0" cy="82296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880360" y="5120640"/>
            <a:ext cx="612648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962656" y="521208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9272" y="5149444"/>
            <a:ext cx="5605272" cy="3995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50" b="1" i="0">
                <a:solidFill>
                  <a:srgbClr val="0B2A4A"/>
                </a:solidFill>
                <a:latin typeface="Calibri"/>
              </a:rPr>
              <a:t>Status Automation Engine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Drives the Received → Closed tracking timeline and auto-closes after a configurable silence window.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43600" y="5577840"/>
            <a:ext cx="0" cy="82296"/>
          </a:xfrm>
          <a:prstGeom prst="line">
            <a:avLst/>
          </a:prstGeom>
          <a:ln w="15875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880360" y="5678424"/>
            <a:ext cx="297180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2962656" y="577900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00984" y="5707228"/>
            <a:ext cx="2468880" cy="3995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00" b="1" i="0">
                <a:solidFill>
                  <a:srgbClr val="0B2A4A"/>
                </a:solidFill>
                <a:latin typeface="Calibri"/>
              </a:rPr>
              <a:t>Customer Portal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00" b="0" i="0">
                <a:solidFill>
                  <a:srgbClr val="60708A"/>
                </a:solidFill>
                <a:latin typeface="Calibri"/>
              </a:rPr>
              <a:t>Amazon-style live status for the client.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5040" y="5678424"/>
            <a:ext cx="297180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117336" y="577900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55664" y="5707228"/>
            <a:ext cx="2468880" cy="3995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00" b="1" i="0">
                <a:solidFill>
                  <a:srgbClr val="0B2A4A"/>
                </a:solidFill>
                <a:latin typeface="Calibri"/>
              </a:rPr>
              <a:t>Management Dashboard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00" b="0" i="0">
                <a:solidFill>
                  <a:srgbClr val="60708A"/>
                </a:solidFill>
                <a:latin typeface="Calibri"/>
              </a:rPr>
              <a:t>Load, SLA risk &amp; rule-override rate for supervisors.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89720" y="1920240"/>
            <a:ext cx="2496312" cy="896112"/>
          </a:xfrm>
          <a:prstGeom prst="roundRect">
            <a:avLst>
              <a:gd name="adj" fmla="val 9000"/>
            </a:avLst>
          </a:prstGeom>
          <a:solidFill>
            <a:srgbClr val="E3ECFB"/>
          </a:solidFill>
          <a:ln w="15875">
            <a:solidFill>
              <a:srgbClr val="6FA0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272016" y="2231136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28632" y="1949044"/>
            <a:ext cx="1975104" cy="8385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00" b="1" i="0">
                <a:solidFill>
                  <a:srgbClr val="0B2A4A"/>
                </a:solidFill>
                <a:latin typeface="Calibri"/>
              </a:rPr>
              <a:t>Notification Engine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Fires a client / agent notification on every status transition.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89720" y="2999232"/>
            <a:ext cx="2496312" cy="896112"/>
          </a:xfrm>
          <a:prstGeom prst="roundRect">
            <a:avLst>
              <a:gd name="adj" fmla="val 9000"/>
            </a:avLst>
          </a:prstGeom>
          <a:solidFill>
            <a:srgbClr val="E3ECFB"/>
          </a:solidFill>
          <a:ln w="15875">
            <a:solidFill>
              <a:srgbClr val="6FA0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272016" y="331012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AUD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28632" y="3028036"/>
            <a:ext cx="1975104" cy="8385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00" b="1" i="0">
                <a:solidFill>
                  <a:srgbClr val="0B2A4A"/>
                </a:solidFill>
                <a:latin typeface="Calibri"/>
              </a:rPr>
              <a:t>Audit Service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Immutable record of every rule-based suggestion and every manager decision.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89720" y="4078224"/>
            <a:ext cx="2496312" cy="896112"/>
          </a:xfrm>
          <a:prstGeom prst="roundRect">
            <a:avLst>
              <a:gd name="adj" fmla="val 9000"/>
            </a:avLst>
          </a:prstGeom>
          <a:solidFill>
            <a:srgbClr val="E3ECFB"/>
          </a:solidFill>
          <a:ln w="15875">
            <a:solidFill>
              <a:srgbClr val="6FA0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272016" y="438912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28632" y="4107028"/>
            <a:ext cx="1975104" cy="8385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00" b="1" i="0">
                <a:solidFill>
                  <a:srgbClr val="0B2A4A"/>
                </a:solidFill>
                <a:latin typeface="Calibri"/>
              </a:rPr>
              <a:t>Analytics</a:t>
            </a:r>
          </a:p>
          <a:p>
            <a:pPr>
              <a:lnSpc>
                <a:spcPct val="102000"/>
              </a:lnSpc>
              <a:spcBef>
                <a:spcPts val="100"/>
              </a:spcBef>
            </a:pPr>
            <a:r>
              <a:rPr sz="730" b="0" i="0">
                <a:solidFill>
                  <a:srgbClr val="60708A"/>
                </a:solidFill>
                <a:latin typeface="Calibri"/>
              </a:rPr>
              <a:t>Tracks rule-suggestion accept/override rate -- the tuning signal for the rules engine.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437876" y="2816352"/>
            <a:ext cx="0" cy="182880"/>
          </a:xfrm>
          <a:prstGeom prst="line">
            <a:avLst/>
          </a:prstGeom>
          <a:ln w="12700">
            <a:solidFill>
              <a:srgbClr val="6FA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437876" y="3895344"/>
            <a:ext cx="0" cy="182880"/>
          </a:xfrm>
          <a:prstGeom prst="line">
            <a:avLst/>
          </a:prstGeom>
          <a:ln w="12700">
            <a:solidFill>
              <a:srgbClr val="6FA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006840" y="2194560"/>
            <a:ext cx="182880" cy="173736"/>
          </a:xfrm>
          <a:prstGeom prst="line">
            <a:avLst/>
          </a:prstGeom>
          <a:ln w="12700">
            <a:solidFill>
              <a:srgbClr val="6FA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006840" y="3447288"/>
            <a:ext cx="182880" cy="82296"/>
          </a:xfrm>
          <a:prstGeom prst="line">
            <a:avLst/>
          </a:prstGeom>
          <a:ln w="12700">
            <a:solidFill>
              <a:srgbClr val="6FA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006840" y="4526280"/>
            <a:ext cx="182880" cy="210312"/>
          </a:xfrm>
          <a:prstGeom prst="line">
            <a:avLst/>
          </a:prstGeom>
          <a:ln w="12700">
            <a:solidFill>
              <a:srgbClr val="6FA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502920" y="283464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EDF3FC"/>
          </a:solidFill>
          <a:ln>
            <a:noFill/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502920" y="2834640"/>
            <a:ext cx="82296" cy="105156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4088" y="2926080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1F6FEB"/>
                </a:solidFill>
                <a:latin typeface="Calibri"/>
              </a:rPr>
              <a:t>Manager Override — Always Human-Controlled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4088" y="3218688"/>
            <a:ext cx="1865376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8283F"/>
                </a:solidFill>
                <a:latin typeface="Calibri"/>
              </a:rPr>
              <a:t>Every rule-based recommendation — duplicate match, category, priority, assignee — is editable before it's committed. Nothing is auto-created without a decision.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6473952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02920" y="65379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8B98AC"/>
                </a:solidFill>
                <a:latin typeface="Calibri"/>
              </a:rPr>
              <a:t>UTMS Enterprise Automation Program  ·  Confidential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653796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 i="0">
                <a:solidFill>
                  <a:srgbClr val="8B98AC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1F6FEB"/>
                </a:solidFill>
                <a:latin typeface="Calibri"/>
              </a:rPr>
              <a:t>USE CASE 2 · IMPLEMENTATION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00" b="1" i="0">
                <a:solidFill>
                  <a:srgbClr val="0B2A4A"/>
                </a:solidFill>
                <a:latin typeface="Calibri"/>
              </a:rPr>
              <a:t>Intelligent Ticket Lifecycle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6988"/>
            <a:ext cx="105156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33856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58496" y="292608"/>
            <a:ext cx="1927536" cy="27432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58496" y="292608"/>
            <a:ext cx="19275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RULES-BASED · NO AI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119579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2119579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9224" y="158191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984248"/>
            <a:ext cx="182697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0B2A4A"/>
                </a:solidFill>
                <a:latin typeface="Calibri"/>
              </a:rPr>
              <a:t>Rule Coverage &amp;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395728"/>
            <a:ext cx="1826971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60708A"/>
                </a:solidFill>
                <a:latin typeface="Calibri"/>
              </a:rPr>
              <a:t>A new client email format or claim-number pattern needs a new rule — a lightweight governance process keeps rules current, with no ML retraining cost.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8803" y="1417320"/>
            <a:ext cx="2119579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68803" y="1417320"/>
            <a:ext cx="2119579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915107" y="158191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5107" y="1984248"/>
            <a:ext cx="182697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0B2A4A"/>
                </a:solidFill>
                <a:latin typeface="Calibri"/>
              </a:rPr>
              <a:t>Duplicate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5107" y="2395728"/>
            <a:ext cx="1826971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60708A"/>
                </a:solidFill>
                <a:latin typeface="Calibri"/>
              </a:rPr>
              <a:t>Overly aggressive fuzzy-matching thresholds risk false attach recommendations — must stay a suggestion, not an auto-merge.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4686" y="1417320"/>
            <a:ext cx="2119579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34686" y="1417320"/>
            <a:ext cx="2119579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80990" y="158191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OVR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0990" y="1984248"/>
            <a:ext cx="182697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0B2A4A"/>
                </a:solidFill>
                <a:latin typeface="Calibri"/>
              </a:rPr>
              <a:t>Manager Override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0990" y="2395728"/>
            <a:ext cx="1826971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60708A"/>
                </a:solidFill>
                <a:latin typeface="Calibri"/>
              </a:rPr>
              <a:t>The workflow must stay fast even though every rule-based suggestion requires a human confirmation step.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0569" y="1417320"/>
            <a:ext cx="2119579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00569" y="1417320"/>
            <a:ext cx="2119579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46873" y="158191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NTF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6873" y="1984248"/>
            <a:ext cx="182697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0B2A4A"/>
                </a:solidFill>
                <a:latin typeface="Calibri"/>
              </a:rPr>
              <a:t>Notification Reliability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6873" y="2395728"/>
            <a:ext cx="1826971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60708A"/>
                </a:solidFill>
                <a:latin typeface="Calibri"/>
              </a:rPr>
              <a:t>Every status transition must reliably notify the client — a missed notification defeats the tracking model.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66452" y="1417320"/>
            <a:ext cx="2119579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566452" y="1417320"/>
            <a:ext cx="2119579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712756" y="158191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2756" y="1984248"/>
            <a:ext cx="182697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0B2A4A"/>
                </a:solidFill>
                <a:latin typeface="Calibri"/>
              </a:rPr>
              <a:t>Integrations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2756" y="2395728"/>
            <a:ext cx="1826971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60708A"/>
                </a:solidFill>
                <a:latin typeface="Calibri"/>
              </a:rPr>
              <a:t>Email / SMS / phone intake channels each need a resilient, idempotent ingestion connector.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886200"/>
            <a:ext cx="2119579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02920" y="3886200"/>
            <a:ext cx="2119579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9224" y="40507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" y="4453128"/>
            <a:ext cx="182697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0B2A4A"/>
                </a:solidFill>
                <a:latin typeface="Calibri"/>
              </a:rPr>
              <a:t>Scalability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" y="4864608"/>
            <a:ext cx="1826971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60708A"/>
                </a:solidFill>
                <a:latin typeface="Calibri"/>
              </a:rPr>
              <a:t>Rule evaluation and duplicate search must stay fast as volume grows — rules are far cheaper to scale than model inference.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68803" y="3886200"/>
            <a:ext cx="2119579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768803" y="3886200"/>
            <a:ext cx="2119579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915107" y="40507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CMP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15107" y="4453128"/>
            <a:ext cx="182697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0B2A4A"/>
                </a:solidFill>
                <a:latin typeface="Calibri"/>
              </a:rPr>
              <a:t>Compliance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15107" y="4864608"/>
            <a:ext cx="1826971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60708A"/>
                </a:solidFill>
                <a:latin typeface="Calibri"/>
              </a:rPr>
              <a:t>PHI-adjacent extracted fields must be handled under the same access controls as the ticket itself.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34686" y="3886200"/>
            <a:ext cx="2119579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034686" y="3886200"/>
            <a:ext cx="2119579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180990" y="40507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0990" y="4453128"/>
            <a:ext cx="182697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0B2A4A"/>
                </a:solidFill>
                <a:latin typeface="Calibri"/>
              </a:rPr>
              <a:t>Audit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0990" y="4864608"/>
            <a:ext cx="1826971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60708A"/>
                </a:solidFill>
                <a:latin typeface="Calibri"/>
              </a:rPr>
              <a:t>Every rule-based suggestion and every manager decision needs its own immutable audit entry.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00569" y="3886200"/>
            <a:ext cx="2119579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300569" y="3886200"/>
            <a:ext cx="2119579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446873" y="40507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6873" y="4453128"/>
            <a:ext cx="182697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0B2A4A"/>
                </a:solidFill>
                <a:latin typeface="Calibri"/>
              </a:rPr>
              <a:t>Security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6873" y="4864608"/>
            <a:ext cx="1826971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60708A"/>
                </a:solidFill>
                <a:latin typeface="Calibri"/>
              </a:rPr>
              <a:t>Rule evaluation must never bypass existing category / client visibility scoping.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66452" y="3886200"/>
            <a:ext cx="2119579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FF5"/>
            </a:solidFill>
          </a:ln>
          <a:effectLst>
            <a:outerShdw blurRad="38000" dist="18000" dir="5400000" rotWithShape="0">
              <a:srgbClr val="9AA7B8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566452" y="3886200"/>
            <a:ext cx="2119579" cy="6400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712756" y="40507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12756" y="4453128"/>
            <a:ext cx="182697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0B2A4A"/>
                </a:solidFill>
                <a:latin typeface="Calibri"/>
              </a:rPr>
              <a:t>Data-Driven AI Trigger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12756" y="4864608"/>
            <a:ext cx="1826971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60708A"/>
                </a:solidFill>
                <a:latin typeface="Calibri"/>
              </a:rPr>
              <a:t>Track override rate per field; only add AI/LLM extraction for the specific fields where rules underperform — cost added only where the data justifies it.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6473952"/>
            <a:ext cx="11183112" cy="9525"/>
          </a:xfrm>
          <a:prstGeom prst="rect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" y="65379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8B98AC"/>
                </a:solidFill>
                <a:latin typeface="Calibri"/>
              </a:rPr>
              <a:t>UTMS Enterprise Automation Program  ·  Confidential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653796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50" b="0" i="0">
                <a:solidFill>
                  <a:srgbClr val="8B98AC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2412</Words>
  <Application>Microsoft Office PowerPoint</Application>
  <PresentationFormat>Widescreen</PresentationFormat>
  <Paragraphs>262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supriya kanumarla</cp:lastModifiedBy>
  <cp:revision>2</cp:revision>
  <dcterms:created xsi:type="dcterms:W3CDTF">2013-01-27T09:14:16Z</dcterms:created>
  <dcterms:modified xsi:type="dcterms:W3CDTF">2026-07-21T15:44:07Z</dcterms:modified>
  <cp:category/>
</cp:coreProperties>
</file>